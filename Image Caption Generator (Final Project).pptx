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38"/>
  </p:notesMasterIdLst>
  <p:sldIdLst>
    <p:sldId id="256" r:id="rId2"/>
    <p:sldId id="257" r:id="rId3"/>
    <p:sldId id="272" r:id="rId4"/>
    <p:sldId id="258" r:id="rId5"/>
    <p:sldId id="275" r:id="rId6"/>
    <p:sldId id="265" r:id="rId7"/>
    <p:sldId id="260" r:id="rId8"/>
    <p:sldId id="262" r:id="rId9"/>
    <p:sldId id="276" r:id="rId10"/>
    <p:sldId id="277" r:id="rId11"/>
    <p:sldId id="278" r:id="rId12"/>
    <p:sldId id="263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74" r:id="rId26"/>
    <p:sldId id="291" r:id="rId27"/>
    <p:sldId id="292" r:id="rId28"/>
    <p:sldId id="293" r:id="rId29"/>
    <p:sldId id="294" r:id="rId30"/>
    <p:sldId id="295" r:id="rId31"/>
    <p:sldId id="296" r:id="rId32"/>
    <p:sldId id="273" r:id="rId33"/>
    <p:sldId id="297" r:id="rId34"/>
    <p:sldId id="298" r:id="rId35"/>
    <p:sldId id="299" r:id="rId36"/>
    <p:sldId id="270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60872-FFD1-46B0-B9A8-40376FC2241E}" type="datetimeFigureOut">
              <a:rPr lang="en-GB" smtClean="0"/>
              <a:t>11/02/2025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218B0-BF3E-4D10-BC60-0009102B7D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523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SLIDES_API56161018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SLIDES_API56161018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SLIDES_API561610189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SLIDES_API561610189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4970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SLIDES_API561610189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SLIDES_API561610189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SLIDES_API561610189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SLIDES_API561610189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4541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SLIDES_API561610189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SLIDES_API561610189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SLIDES_API561610189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SLIDES_API561610189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SLIDES_API561610189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SLIDES_API561610189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7589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SLIDES_API561610189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SLIDES_API561610189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1073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SLIDES_API561610189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SLIDES_API561610189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9222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7559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4309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0865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7581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1095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0839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40569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53959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12428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84887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58445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98703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15193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92184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68526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34382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87853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34983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72260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85607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17399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11710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11611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561610189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561610189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7401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8F2BF1D-50EF-46FA-8889-196D05AFFE1E}" type="datetime1">
              <a:rPr lang="en-GB" smtClean="0"/>
              <a:t>11/02/2025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605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5D94B-9C04-4658-A116-C59F0C3CEF51}" type="datetime1">
              <a:rPr lang="en-GB" smtClean="0"/>
              <a:t>11/02/2025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451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71CA-7351-4A56-BCA2-2288B1587AD7}" type="datetime1">
              <a:rPr lang="en-GB" smtClean="0"/>
              <a:t>11/02/2025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630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9D64-9A94-4C93-B86F-F7E136E66697}" type="datetime1">
              <a:rPr lang="en-GB" smtClean="0"/>
              <a:t>11/02/2025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667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99829-FA81-408A-8BCB-EBE57E0904DA}" type="datetime1">
              <a:rPr lang="en-GB" smtClean="0"/>
              <a:t>11/02/2025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729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30384-20D8-41A3-A482-E1BDC4A897F0}" type="datetime1">
              <a:rPr lang="en-GB" smtClean="0"/>
              <a:t>11/02/2025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481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79934-5F61-42D1-AAF0-024AD6648449}" type="datetime1">
              <a:rPr lang="en-GB" smtClean="0"/>
              <a:t>11/02/2025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61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FE3A-9305-499F-895E-8F7E670E6BAC}" type="datetime1">
              <a:rPr lang="en-GB" smtClean="0"/>
              <a:t>11/02/2025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549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DC50-70B6-4246-85D2-B7C4ED8DDA39}" type="datetime1">
              <a:rPr lang="en-GB" smtClean="0"/>
              <a:t>11/02/2025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83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8E17-2915-463B-AAD7-A8260601138B}" type="datetime1">
              <a:rPr lang="en-GB" smtClean="0"/>
              <a:t>11/02/2025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46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BC1B-6B77-4DFA-90D2-19917054EB69}" type="datetime1">
              <a:rPr lang="en-GB" smtClean="0"/>
              <a:t>11/02/2025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582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50F1-D6D4-4D14-984D-786A958DA9B9}" type="datetime1">
              <a:rPr lang="en-GB" smtClean="0"/>
              <a:t>11/02/2025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9407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593C7-83AF-4FE5-91DB-3F79E17588A6}" type="datetime1">
              <a:rPr lang="en-GB" smtClean="0"/>
              <a:t>11/02/2025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89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9077D-A36A-45EF-B6D2-C876F0FFE387}" type="datetime1">
              <a:rPr lang="en-GB" smtClean="0"/>
              <a:t>11/02/2025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922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42AE-0579-4E19-8F19-3DB11D8444EB}" type="datetime1">
              <a:rPr lang="en-GB" smtClean="0"/>
              <a:t>11/02/2025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690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C5B7D-37E1-4B2A-9245-9EAE3490CED0}" type="datetime1">
              <a:rPr lang="en-GB" smtClean="0"/>
              <a:t>11/02/2025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7798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FA7A1-E000-4791-AD43-10A1C32F4A3F}" type="datetime1">
              <a:rPr lang="en-GB" smtClean="0"/>
              <a:t>11/02/2025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06ED5-1554-453A-AF23-40F690595A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04642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2" type="blank">
  <p:cSld name="Slide with 3 columns-v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56" name="Google Shape;156;p25"/>
          <p:cNvSpPr txBox="1">
            <a:spLocks noGrp="1"/>
          </p:cNvSpPr>
          <p:nvPr>
            <p:ph type="ctrTitle"/>
          </p:nvPr>
        </p:nvSpPr>
        <p:spPr>
          <a:xfrm rot="-5400000">
            <a:off x="-1676967" y="3026367"/>
            <a:ext cx="54120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subTitle" idx="1"/>
          </p:nvPr>
        </p:nvSpPr>
        <p:spPr>
          <a:xfrm>
            <a:off x="2500033" y="499200"/>
            <a:ext cx="92436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867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2"/>
          </p:nvPr>
        </p:nvSpPr>
        <p:spPr>
          <a:xfrm>
            <a:off x="2500033" y="1118400"/>
            <a:ext cx="9243600" cy="12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subTitle" idx="3"/>
          </p:nvPr>
        </p:nvSpPr>
        <p:spPr>
          <a:xfrm>
            <a:off x="2500033" y="2491200"/>
            <a:ext cx="9243600" cy="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867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body" idx="4"/>
          </p:nvPr>
        </p:nvSpPr>
        <p:spPr>
          <a:xfrm>
            <a:off x="2500033" y="3110400"/>
            <a:ext cx="9243600" cy="12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subTitle" idx="5"/>
          </p:nvPr>
        </p:nvSpPr>
        <p:spPr>
          <a:xfrm>
            <a:off x="2500033" y="4305600"/>
            <a:ext cx="92436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867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sz="28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6"/>
          </p:nvPr>
        </p:nvSpPr>
        <p:spPr>
          <a:xfrm>
            <a:off x="2500033" y="5155200"/>
            <a:ext cx="9243600" cy="12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01200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key metrics v3">
  <p:cSld name="Slide with 4 key metrics v3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>
            <a:spLocks noGrp="1"/>
          </p:cNvSpPr>
          <p:nvPr>
            <p:ph type="subTitle" idx="1"/>
          </p:nvPr>
        </p:nvSpPr>
        <p:spPr>
          <a:xfrm>
            <a:off x="993600" y="3417600"/>
            <a:ext cx="20976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sz="1867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body" idx="2"/>
          </p:nvPr>
        </p:nvSpPr>
        <p:spPr>
          <a:xfrm>
            <a:off x="993600" y="4147200"/>
            <a:ext cx="2097600" cy="20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3"/>
          </p:nvPr>
        </p:nvSpPr>
        <p:spPr>
          <a:xfrm>
            <a:off x="3700800" y="3417600"/>
            <a:ext cx="20976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sz="1867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body" idx="4"/>
          </p:nvPr>
        </p:nvSpPr>
        <p:spPr>
          <a:xfrm>
            <a:off x="3700800" y="4147200"/>
            <a:ext cx="2097600" cy="20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subTitle" idx="5"/>
          </p:nvPr>
        </p:nvSpPr>
        <p:spPr>
          <a:xfrm>
            <a:off x="6374400" y="3417600"/>
            <a:ext cx="20976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sz="1867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body" idx="6"/>
          </p:nvPr>
        </p:nvSpPr>
        <p:spPr>
          <a:xfrm>
            <a:off x="6374400" y="4147200"/>
            <a:ext cx="2097600" cy="20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subTitle" idx="7"/>
          </p:nvPr>
        </p:nvSpPr>
        <p:spPr>
          <a:xfrm>
            <a:off x="9043200" y="3417600"/>
            <a:ext cx="20976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sz="1867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sz="2800" b="1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body" idx="8"/>
          </p:nvPr>
        </p:nvSpPr>
        <p:spPr>
          <a:xfrm>
            <a:off x="9043200" y="4147200"/>
            <a:ext cx="2097600" cy="20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ctrTitle"/>
          </p:nvPr>
        </p:nvSpPr>
        <p:spPr>
          <a:xfrm>
            <a:off x="604800" y="513600"/>
            <a:ext cx="107136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2508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2 - Image" type="secHead">
  <p:cSld name="Slide With Paragraph v2 - Imag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9600" y="-9600"/>
            <a:ext cx="4114000" cy="6868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4664800" y="2388800"/>
            <a:ext cx="6986000" cy="39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4664800" y="445167"/>
            <a:ext cx="70152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75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99C1A-E3A8-497B-8793-431E4E060737}" type="datetime1">
              <a:rPr lang="en-GB" smtClean="0"/>
              <a:t>11/02/2025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06ED5-1554-453A-AF23-40F690595A57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95408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08;p51">
            <a:extLst>
              <a:ext uri="{FF2B5EF4-FFF2-40B4-BE49-F238E27FC236}">
                <a16:creationId xmlns:a16="http://schemas.microsoft.com/office/drawing/2014/main" id="{B0AD0DCF-52DC-40D0-8C67-FB6CF07711D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601847" y="1683058"/>
            <a:ext cx="9313683" cy="110392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sz="6600" b="1" cap="none" dirty="0">
                <a:solidFill>
                  <a:srgbClr val="FFC000"/>
                </a:solidFill>
              </a:rPr>
              <a:t>Image Caption Generator</a:t>
            </a:r>
          </a:p>
        </p:txBody>
      </p:sp>
      <p:sp>
        <p:nvSpPr>
          <p:cNvPr id="3" name="Google Shape;508;p51">
            <a:extLst>
              <a:ext uri="{FF2B5EF4-FFF2-40B4-BE49-F238E27FC236}">
                <a16:creationId xmlns:a16="http://schemas.microsoft.com/office/drawing/2014/main" id="{798ADF07-EE47-42F5-879E-83E04F7C5AE2}"/>
              </a:ext>
            </a:extLst>
          </p:cNvPr>
          <p:cNvSpPr txBox="1">
            <a:spLocks/>
          </p:cNvSpPr>
          <p:nvPr/>
        </p:nvSpPr>
        <p:spPr>
          <a:xfrm>
            <a:off x="5786644" y="2658937"/>
            <a:ext cx="944093" cy="84783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b="1" cap="none" dirty="0"/>
              <a:t>By</a:t>
            </a:r>
          </a:p>
        </p:txBody>
      </p:sp>
      <p:sp>
        <p:nvSpPr>
          <p:cNvPr id="4" name="Google Shape;508;p51">
            <a:extLst>
              <a:ext uri="{FF2B5EF4-FFF2-40B4-BE49-F238E27FC236}">
                <a16:creationId xmlns:a16="http://schemas.microsoft.com/office/drawing/2014/main" id="{F5CB4437-7269-48D3-A062-5BB43E064505}"/>
              </a:ext>
            </a:extLst>
          </p:cNvPr>
          <p:cNvSpPr txBox="1">
            <a:spLocks/>
          </p:cNvSpPr>
          <p:nvPr/>
        </p:nvSpPr>
        <p:spPr>
          <a:xfrm>
            <a:off x="3941738" y="3506769"/>
            <a:ext cx="4633903" cy="74570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4000" b="1" cap="none" dirty="0" err="1"/>
              <a:t>Eng</a:t>
            </a:r>
            <a:r>
              <a:rPr lang="en-GB" sz="4000" b="1" cap="none" dirty="0"/>
              <a:t>/ Mohamed Yosri</a:t>
            </a:r>
          </a:p>
        </p:txBody>
      </p:sp>
      <p:sp>
        <p:nvSpPr>
          <p:cNvPr id="5" name="Google Shape;508;p51">
            <a:extLst>
              <a:ext uri="{FF2B5EF4-FFF2-40B4-BE49-F238E27FC236}">
                <a16:creationId xmlns:a16="http://schemas.microsoft.com/office/drawing/2014/main" id="{D8A24E62-A7E7-4010-9FE4-9C3DB9DEA58F}"/>
              </a:ext>
            </a:extLst>
          </p:cNvPr>
          <p:cNvSpPr txBox="1">
            <a:spLocks/>
          </p:cNvSpPr>
          <p:nvPr/>
        </p:nvSpPr>
        <p:spPr>
          <a:xfrm>
            <a:off x="1111654" y="4251487"/>
            <a:ext cx="10294070" cy="84783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GB" sz="4000" b="1" cap="none" dirty="0">
                <a:solidFill>
                  <a:srgbClr val="FF0000"/>
                </a:solidFill>
              </a:rPr>
              <a:t>As a Final Project for AI Diploma Given by: </a:t>
            </a:r>
            <a:r>
              <a:rPr lang="en-GB" b="1" cap="none" dirty="0">
                <a:solidFill>
                  <a:srgbClr val="92D050"/>
                </a:solidFill>
              </a:rPr>
              <a:t>Array Academy</a:t>
            </a:r>
          </a:p>
        </p:txBody>
      </p:sp>
    </p:spTree>
    <p:extLst>
      <p:ext uri="{BB962C8B-B14F-4D97-AF65-F5344CB8AC3E}">
        <p14:creationId xmlns:p14="http://schemas.microsoft.com/office/powerpoint/2010/main" val="370510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"/>
          <p:cNvSpPr txBox="1">
            <a:spLocks noGrp="1"/>
          </p:cNvSpPr>
          <p:nvPr>
            <p:ph type="ctrTitle"/>
          </p:nvPr>
        </p:nvSpPr>
        <p:spPr>
          <a:xfrm>
            <a:off x="2411850" y="102706"/>
            <a:ext cx="8956800" cy="7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solidFill>
                  <a:srgbClr val="FFC000"/>
                </a:solidFill>
              </a:rPr>
              <a:t>Contents: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91B8DC-89E3-48AD-9254-5609EDA3B27E}"/>
              </a:ext>
            </a:extLst>
          </p:cNvPr>
          <p:cNvSpPr txBox="1"/>
          <p:nvPr/>
        </p:nvSpPr>
        <p:spPr>
          <a:xfrm>
            <a:off x="1888745" y="1611318"/>
            <a:ext cx="8065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" sz="2800" dirty="0"/>
              <a:t>2- Applications for Image Processing, NLP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45E80-E1E2-4145-A1CD-98AC58FC0F2E}"/>
              </a:ext>
            </a:extLst>
          </p:cNvPr>
          <p:cNvSpPr txBox="1"/>
          <p:nvPr/>
        </p:nvSpPr>
        <p:spPr>
          <a:xfrm>
            <a:off x="1888745" y="2442209"/>
            <a:ext cx="10033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" sz="2800" dirty="0"/>
              <a:t>3- Principle of Image Caption Generator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7C1CC7-B880-4F3C-B12B-77BA8523AF97}"/>
              </a:ext>
            </a:extLst>
          </p:cNvPr>
          <p:cNvSpPr txBox="1"/>
          <p:nvPr/>
        </p:nvSpPr>
        <p:spPr>
          <a:xfrm>
            <a:off x="1888745" y="3273100"/>
            <a:ext cx="8753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" sz="2800" dirty="0"/>
              <a:t>4- Development of an Image Caption Generator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D64E55-CC8C-4F2E-9E9A-DFF45187A63F}"/>
              </a:ext>
            </a:extLst>
          </p:cNvPr>
          <p:cNvSpPr txBox="1"/>
          <p:nvPr/>
        </p:nvSpPr>
        <p:spPr>
          <a:xfrm>
            <a:off x="1888745" y="4103991"/>
            <a:ext cx="9216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" sz="2800" dirty="0"/>
              <a:t>5- Pseudocode of the developed Image Caption Generator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EA7B96-AA1A-432A-AECC-206711076017}"/>
              </a:ext>
            </a:extLst>
          </p:cNvPr>
          <p:cNvSpPr txBox="1"/>
          <p:nvPr/>
        </p:nvSpPr>
        <p:spPr>
          <a:xfrm>
            <a:off x="1888744" y="4847529"/>
            <a:ext cx="7777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GB" sz="2800" dirty="0"/>
              <a:t>6- </a:t>
            </a:r>
            <a:r>
              <a:rPr lang="en" sz="2800" dirty="0"/>
              <a:t>Code of the developed Image Caption Generator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1140F3-0D05-4EF0-BA71-AB36304E4983}"/>
              </a:ext>
            </a:extLst>
          </p:cNvPr>
          <p:cNvSpPr txBox="1"/>
          <p:nvPr/>
        </p:nvSpPr>
        <p:spPr>
          <a:xfrm>
            <a:off x="1888744" y="6232074"/>
            <a:ext cx="7777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GB" sz="2800" dirty="0"/>
              <a:t>8- Final Product and Conclusion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C5EE47-F856-4241-818E-D4381A98F568}"/>
              </a:ext>
            </a:extLst>
          </p:cNvPr>
          <p:cNvSpPr txBox="1"/>
          <p:nvPr/>
        </p:nvSpPr>
        <p:spPr>
          <a:xfrm>
            <a:off x="1888744" y="786422"/>
            <a:ext cx="8065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" sz="2800" dirty="0"/>
              <a:t>1- 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428237-79C6-4A1B-BCDB-B64CD0C7502E}"/>
              </a:ext>
            </a:extLst>
          </p:cNvPr>
          <p:cNvSpPr txBox="1"/>
          <p:nvPr/>
        </p:nvSpPr>
        <p:spPr>
          <a:xfrm>
            <a:off x="1888744" y="5586475"/>
            <a:ext cx="7777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GB" sz="2800" dirty="0"/>
              <a:t>7- </a:t>
            </a:r>
            <a:r>
              <a:rPr lang="en-GB" sz="2800" dirty="0" err="1"/>
              <a:t>Streamlit</a:t>
            </a:r>
            <a:r>
              <a:rPr lang="en-GB" sz="2800" dirty="0"/>
              <a:t> Application Deployment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4552CA-8DAA-43CA-ACB2-45893724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7808" y="6296320"/>
            <a:ext cx="771089" cy="365125"/>
          </a:xfrm>
        </p:spPr>
        <p:txBody>
          <a:bodyPr/>
          <a:lstStyle/>
          <a:p>
            <a:fld id="{64B06ED5-1554-453A-AF23-40F690595A57}" type="slidenum">
              <a:rPr lang="en-GB" smtClean="0"/>
              <a:t>2</a:t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2"/>
          <p:cNvSpPr txBox="1">
            <a:spLocks noGrp="1"/>
          </p:cNvSpPr>
          <p:nvPr>
            <p:ph type="ctrTitle"/>
          </p:nvPr>
        </p:nvSpPr>
        <p:spPr>
          <a:xfrm rot="-5400000">
            <a:off x="-2262254" y="2262255"/>
            <a:ext cx="6858001" cy="23334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GB" sz="8800" cap="none" dirty="0"/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72A502-9024-4FBB-A4B1-48F3ADF4F0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CD61C9-1456-4582-8645-6C88754D64D3}"/>
              </a:ext>
            </a:extLst>
          </p:cNvPr>
          <p:cNvSpPr/>
          <p:nvPr/>
        </p:nvSpPr>
        <p:spPr>
          <a:xfrm>
            <a:off x="2441539" y="1140649"/>
            <a:ext cx="3440784" cy="16119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200" dirty="0"/>
              <a:t>Image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2C16093-E7C0-4D42-9C07-4D6506DE69BC}"/>
              </a:ext>
            </a:extLst>
          </p:cNvPr>
          <p:cNvSpPr/>
          <p:nvPr/>
        </p:nvSpPr>
        <p:spPr>
          <a:xfrm>
            <a:off x="6042580" y="1527146"/>
            <a:ext cx="1753385" cy="89319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88B6FF-F500-4BEE-AE56-0726FC6A5C83}"/>
              </a:ext>
            </a:extLst>
          </p:cNvPr>
          <p:cNvSpPr/>
          <p:nvPr/>
        </p:nvSpPr>
        <p:spPr>
          <a:xfrm>
            <a:off x="8030069" y="1018098"/>
            <a:ext cx="3998142" cy="1734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Caption that describes the image as accurate as possible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E1FDEF-0D37-4824-AFA2-4F90F54172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778" y="2835211"/>
            <a:ext cx="3460912" cy="24720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94E3A5-6A99-4DAE-B2EE-D87323EB96F8}"/>
              </a:ext>
            </a:extLst>
          </p:cNvPr>
          <p:cNvSpPr txBox="1"/>
          <p:nvPr/>
        </p:nvSpPr>
        <p:spPr>
          <a:xfrm>
            <a:off x="8633385" y="3628315"/>
            <a:ext cx="31312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German Shepherd standing on grass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2509D02-DACE-4332-91A6-C919E32C641C}"/>
              </a:ext>
            </a:extLst>
          </p:cNvPr>
          <p:cNvSpPr/>
          <p:nvPr/>
        </p:nvSpPr>
        <p:spPr>
          <a:xfrm>
            <a:off x="6229311" y="3823569"/>
            <a:ext cx="1753385" cy="89319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794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5" grpId="0" animBg="1"/>
      <p:bldP spid="11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2"/>
          <p:cNvSpPr txBox="1">
            <a:spLocks noGrp="1"/>
          </p:cNvSpPr>
          <p:nvPr>
            <p:ph type="ctrTitle"/>
          </p:nvPr>
        </p:nvSpPr>
        <p:spPr>
          <a:xfrm rot="-5400000">
            <a:off x="-2262254" y="2262255"/>
            <a:ext cx="6858001" cy="23334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GB" sz="5400" cap="none" dirty="0"/>
              <a:t>Applications for Image Processing, NLP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DFD4D6-F211-4E00-9DDD-2C1C510D2D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CB51BAB-A508-485F-88BC-26FCCE853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272" y="848411"/>
            <a:ext cx="9574939" cy="50268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2"/>
          <p:cNvSpPr txBox="1">
            <a:spLocks noGrp="1"/>
          </p:cNvSpPr>
          <p:nvPr>
            <p:ph type="ctrTitle"/>
          </p:nvPr>
        </p:nvSpPr>
        <p:spPr>
          <a:xfrm rot="-5400000">
            <a:off x="-2262254" y="2262255"/>
            <a:ext cx="6858001" cy="23334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GB" sz="5400" cap="none" dirty="0"/>
              <a:t>Applications for Image Processing, NLP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DFD4D6-F211-4E00-9DDD-2C1C510D2D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B70845-C134-4A7A-917F-32BC7FAFF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416" y="129618"/>
            <a:ext cx="6598763" cy="65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59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14;p52">
            <a:extLst>
              <a:ext uri="{FF2B5EF4-FFF2-40B4-BE49-F238E27FC236}">
                <a16:creationId xmlns:a16="http://schemas.microsoft.com/office/drawing/2014/main" id="{F6278BE5-7D8D-4F5E-8F0B-A0C7E2616347}"/>
              </a:ext>
            </a:extLst>
          </p:cNvPr>
          <p:cNvSpPr txBox="1">
            <a:spLocks/>
          </p:cNvSpPr>
          <p:nvPr/>
        </p:nvSpPr>
        <p:spPr>
          <a:xfrm rot="-5400000">
            <a:off x="-2745554" y="2745557"/>
            <a:ext cx="6858002" cy="1366888"/>
          </a:xfrm>
          <a:prstGeom prst="rect">
            <a:avLst/>
          </a:prstGeom>
          <a:ln w="22225" cap="flat" cmpd="sng" algn="ctr">
            <a:solidFill>
              <a:schemeClr val="lt1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cap="none" dirty="0"/>
              <a:t>Principle of Image Caption Generator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138FB1D-03CD-49C7-A19E-91C40FA7B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0421" y="6164345"/>
            <a:ext cx="771089" cy="365125"/>
          </a:xfrm>
        </p:spPr>
        <p:txBody>
          <a:bodyPr/>
          <a:lstStyle/>
          <a:p>
            <a:fld id="{64B06ED5-1554-453A-AF23-40F690595A57}" type="slidenum">
              <a:rPr lang="en-GB" smtClean="0"/>
              <a:t>6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1808F3-715A-4DB0-8860-20EF11990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892" y="1685850"/>
            <a:ext cx="10740272" cy="368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514;p52">
            <a:extLst>
              <a:ext uri="{FF2B5EF4-FFF2-40B4-BE49-F238E27FC236}">
                <a16:creationId xmlns:a16="http://schemas.microsoft.com/office/drawing/2014/main" id="{41DFDB31-A311-4AFB-82B5-FF0BF4741D25}"/>
              </a:ext>
            </a:extLst>
          </p:cNvPr>
          <p:cNvSpPr txBox="1">
            <a:spLocks/>
          </p:cNvSpPr>
          <p:nvPr/>
        </p:nvSpPr>
        <p:spPr>
          <a:xfrm rot="-5400000">
            <a:off x="-2703134" y="2703136"/>
            <a:ext cx="6858002" cy="1451729"/>
          </a:xfrm>
          <a:prstGeom prst="rect">
            <a:avLst/>
          </a:prstGeom>
          <a:ln w="22225" cap="flat" cmpd="sng" algn="ctr">
            <a:solidFill>
              <a:schemeClr val="lt1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cap="none" dirty="0"/>
              <a:t>Development of an Image Caption Generator</a:t>
            </a:r>
          </a:p>
        </p:txBody>
      </p:sp>
      <p:sp>
        <p:nvSpPr>
          <p:cNvPr id="30" name="Slide Number Placeholder 14">
            <a:extLst>
              <a:ext uri="{FF2B5EF4-FFF2-40B4-BE49-F238E27FC236}">
                <a16:creationId xmlns:a16="http://schemas.microsoft.com/office/drawing/2014/main" id="{D9332A6B-8A7E-4A0D-85A3-DB150D587FF4}"/>
              </a:ext>
            </a:extLst>
          </p:cNvPr>
          <p:cNvSpPr txBox="1">
            <a:spLocks/>
          </p:cNvSpPr>
          <p:nvPr/>
        </p:nvSpPr>
        <p:spPr>
          <a:xfrm>
            <a:off x="11292079" y="6164345"/>
            <a:ext cx="771089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B06ED5-1554-453A-AF23-40F690595A57}" type="slidenum">
              <a:rPr lang="en-GB" sz="2000" smtClean="0"/>
              <a:pPr/>
              <a:t>7</a:t>
            </a:fld>
            <a:endParaRPr lang="en-GB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B9794F-6B60-45BF-88C3-6C2AA24A2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982" y="55243"/>
            <a:ext cx="5227213" cy="64742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14;p52">
            <a:extLst>
              <a:ext uri="{FF2B5EF4-FFF2-40B4-BE49-F238E27FC236}">
                <a16:creationId xmlns:a16="http://schemas.microsoft.com/office/drawing/2014/main" id="{9537B487-4B59-4011-AABA-8AC7AA93B692}"/>
              </a:ext>
            </a:extLst>
          </p:cNvPr>
          <p:cNvSpPr txBox="1">
            <a:spLocks/>
          </p:cNvSpPr>
          <p:nvPr/>
        </p:nvSpPr>
        <p:spPr>
          <a:xfrm rot="-5400000">
            <a:off x="-2309388" y="2309389"/>
            <a:ext cx="6858002" cy="2239223"/>
          </a:xfrm>
          <a:prstGeom prst="rect">
            <a:avLst/>
          </a:prstGeom>
          <a:ln w="22225" cap="flat" cmpd="sng" algn="ctr">
            <a:solidFill>
              <a:schemeClr val="lt1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cap="none" dirty="0"/>
              <a:t>Pseudocode of the developed Image Caption Generator 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CEE4FD83-6EF2-43F2-B987-47584ECEFD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CE1603-E214-4028-9EF0-4740468DAB20}"/>
              </a:ext>
            </a:extLst>
          </p:cNvPr>
          <p:cNvSpPr txBox="1"/>
          <p:nvPr/>
        </p:nvSpPr>
        <p:spPr>
          <a:xfrm>
            <a:off x="2366128" y="-1"/>
            <a:ext cx="853633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1.	Load Captions from File</a:t>
            </a:r>
          </a:p>
          <a:p>
            <a:r>
              <a:rPr lang="en-GB" sz="2000" dirty="0"/>
              <a:t>o	Initialize an empty dictionary captions.</a:t>
            </a:r>
          </a:p>
          <a:p>
            <a:r>
              <a:rPr lang="en-GB" sz="2000" dirty="0"/>
              <a:t>o	Open the file and read each line.</a:t>
            </a:r>
          </a:p>
          <a:p>
            <a:r>
              <a:rPr lang="en-GB" sz="2000" dirty="0"/>
              <a:t>o	Strip whitespace from the line.</a:t>
            </a:r>
          </a:p>
          <a:p>
            <a:r>
              <a:rPr lang="en-GB" sz="2000" dirty="0"/>
              <a:t>o	If the line is empty, continue to the next.</a:t>
            </a:r>
          </a:p>
          <a:p>
            <a:r>
              <a:rPr lang="en-GB" sz="2000" dirty="0"/>
              <a:t>o	Split the line into </a:t>
            </a:r>
            <a:r>
              <a:rPr lang="en-GB" sz="2000" dirty="0" err="1"/>
              <a:t>image_id</a:t>
            </a:r>
            <a:r>
              <a:rPr lang="en-GB" sz="2000" dirty="0"/>
              <a:t> and caption using a tab (\t).</a:t>
            </a:r>
          </a:p>
          <a:p>
            <a:r>
              <a:rPr lang="en-GB" sz="2000" dirty="0"/>
              <a:t>o	Extract the </a:t>
            </a:r>
            <a:r>
              <a:rPr lang="en-GB" sz="2000" dirty="0" err="1"/>
              <a:t>image_id</a:t>
            </a:r>
            <a:r>
              <a:rPr lang="en-GB" sz="2000" dirty="0"/>
              <a:t> by splitting at # to remove numbering.</a:t>
            </a:r>
          </a:p>
          <a:p>
            <a:r>
              <a:rPr lang="en-GB" sz="2000" dirty="0"/>
              <a:t>o	Convert caption to lowercase and remove punctuation.</a:t>
            </a:r>
          </a:p>
          <a:p>
            <a:r>
              <a:rPr lang="en-GB" sz="2000" dirty="0"/>
              <a:t>o	Store the caption in captions dictionary under </a:t>
            </a:r>
            <a:r>
              <a:rPr lang="en-GB" sz="2000" dirty="0" err="1"/>
              <a:t>image_id</a:t>
            </a:r>
            <a:r>
              <a:rPr lang="en-GB" sz="2000" dirty="0"/>
              <a:t>.</a:t>
            </a:r>
          </a:p>
          <a:p>
            <a:r>
              <a:rPr lang="en-GB" sz="2000" dirty="0"/>
              <a:t>o	Return the captions dictionary.</a:t>
            </a:r>
          </a:p>
          <a:p>
            <a:endParaRPr lang="en-GB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D146B8-7EEF-41FB-8C2D-309BFDDB7A09}"/>
              </a:ext>
            </a:extLst>
          </p:cNvPr>
          <p:cNvSpPr txBox="1"/>
          <p:nvPr/>
        </p:nvSpPr>
        <p:spPr>
          <a:xfrm>
            <a:off x="2378899" y="3264548"/>
            <a:ext cx="865046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2.	Extract Image Features Using Pre-trained Model</a:t>
            </a:r>
          </a:p>
          <a:p>
            <a:r>
              <a:rPr lang="en-GB" sz="2000" dirty="0"/>
              <a:t>o	Initialize an empty dictionary features.</a:t>
            </a:r>
          </a:p>
          <a:p>
            <a:r>
              <a:rPr lang="en-GB" sz="2000" dirty="0"/>
              <a:t>o	Loop through all image files in the given directory.</a:t>
            </a:r>
          </a:p>
          <a:p>
            <a:r>
              <a:rPr lang="en-GB" sz="2000" dirty="0"/>
              <a:t>o	Check if the file extension is .jpg, .jpeg, or .</a:t>
            </a:r>
            <a:r>
              <a:rPr lang="en-GB" sz="2000" dirty="0" err="1"/>
              <a:t>png</a:t>
            </a:r>
            <a:r>
              <a:rPr lang="en-GB" sz="2000" dirty="0"/>
              <a:t>.</a:t>
            </a:r>
          </a:p>
          <a:p>
            <a:r>
              <a:rPr lang="en-GB" sz="2000" dirty="0"/>
              <a:t>o	Construct full image path.</a:t>
            </a:r>
          </a:p>
          <a:p>
            <a:r>
              <a:rPr lang="en-GB" sz="2000" dirty="0"/>
              <a:t>o	Load the image and resize it to 224x224.</a:t>
            </a:r>
          </a:p>
          <a:p>
            <a:r>
              <a:rPr lang="en-GB" sz="2000" dirty="0"/>
              <a:t>o	Convert the image to an array and expand dimensions.</a:t>
            </a:r>
          </a:p>
          <a:p>
            <a:r>
              <a:rPr lang="en-GB" sz="2000" dirty="0"/>
              <a:t>o	</a:t>
            </a:r>
            <a:r>
              <a:rPr lang="en-GB" sz="2000" dirty="0" err="1"/>
              <a:t>Preprocess</a:t>
            </a:r>
            <a:r>
              <a:rPr lang="en-GB" sz="2000" dirty="0"/>
              <a:t> the image using the specified function.</a:t>
            </a:r>
          </a:p>
          <a:p>
            <a:r>
              <a:rPr lang="en-GB" sz="2000" dirty="0"/>
              <a:t>o	Pass the image through the model to extract features.</a:t>
            </a:r>
          </a:p>
          <a:p>
            <a:r>
              <a:rPr lang="en-GB" sz="2000" dirty="0"/>
              <a:t>o	Store the extracted feature in the features dictionary.</a:t>
            </a:r>
          </a:p>
          <a:p>
            <a:r>
              <a:rPr lang="en-GB" sz="2000" dirty="0"/>
              <a:t>o	Return the features dictionary.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14;p52">
            <a:extLst>
              <a:ext uri="{FF2B5EF4-FFF2-40B4-BE49-F238E27FC236}">
                <a16:creationId xmlns:a16="http://schemas.microsoft.com/office/drawing/2014/main" id="{9537B487-4B59-4011-AABA-8AC7AA93B692}"/>
              </a:ext>
            </a:extLst>
          </p:cNvPr>
          <p:cNvSpPr txBox="1">
            <a:spLocks/>
          </p:cNvSpPr>
          <p:nvPr/>
        </p:nvSpPr>
        <p:spPr>
          <a:xfrm rot="-5400000">
            <a:off x="-2309388" y="2309389"/>
            <a:ext cx="6858002" cy="2239223"/>
          </a:xfrm>
          <a:prstGeom prst="rect">
            <a:avLst/>
          </a:prstGeom>
          <a:ln w="22225" cap="flat" cmpd="sng" algn="ctr">
            <a:solidFill>
              <a:schemeClr val="lt1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cap="none" dirty="0"/>
              <a:t>Pseudocode of the developed Image Caption Generator 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CEE4FD83-6EF2-43F2-B987-47584ECEFD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CE1603-E214-4028-9EF0-4740468DAB20}"/>
              </a:ext>
            </a:extLst>
          </p:cNvPr>
          <p:cNvSpPr txBox="1"/>
          <p:nvPr/>
        </p:nvSpPr>
        <p:spPr>
          <a:xfrm>
            <a:off x="2366128" y="-1"/>
            <a:ext cx="85363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3.	Load Pre-trained VGG16 Model</a:t>
            </a:r>
          </a:p>
          <a:p>
            <a:r>
              <a:rPr lang="en-GB" sz="2000" dirty="0"/>
              <a:t>o	Load VGG16 model with pre-trained weights.</a:t>
            </a:r>
          </a:p>
          <a:p>
            <a:r>
              <a:rPr lang="en-GB" sz="2000" dirty="0"/>
              <a:t>o	Modify the model to output feature vectors instead of classification.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EDF91-97C4-449B-AB1C-27DB1208ED9D}"/>
              </a:ext>
            </a:extLst>
          </p:cNvPr>
          <p:cNvSpPr txBox="1"/>
          <p:nvPr/>
        </p:nvSpPr>
        <p:spPr>
          <a:xfrm>
            <a:off x="2366128" y="1194772"/>
            <a:ext cx="85363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4.	Extract and Save Features</a:t>
            </a:r>
          </a:p>
          <a:p>
            <a:r>
              <a:rPr lang="en-GB" sz="2000" dirty="0"/>
              <a:t>o	Extract features from images using VGG16.</a:t>
            </a:r>
          </a:p>
          <a:p>
            <a:r>
              <a:rPr lang="en-GB" sz="2000" dirty="0"/>
              <a:t>o	Save extracted features to a pickle file.</a:t>
            </a:r>
          </a:p>
          <a:p>
            <a:r>
              <a:rPr lang="en-GB" sz="2000" dirty="0"/>
              <a:t>o	Download the saved file.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0C37C-5C80-4BC4-9A4A-33B3297256E2}"/>
              </a:ext>
            </a:extLst>
          </p:cNvPr>
          <p:cNvSpPr txBox="1"/>
          <p:nvPr/>
        </p:nvSpPr>
        <p:spPr>
          <a:xfrm>
            <a:off x="2366128" y="2640759"/>
            <a:ext cx="853633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5.	Load and Tokenize Captions</a:t>
            </a:r>
          </a:p>
          <a:p>
            <a:r>
              <a:rPr lang="en-GB" sz="2000" dirty="0"/>
              <a:t>o	Load captions from the dataset file.</a:t>
            </a:r>
          </a:p>
          <a:p>
            <a:r>
              <a:rPr lang="en-GB" sz="2000" dirty="0"/>
              <a:t>o	Initialize a tokenizer and fit it on the captions.</a:t>
            </a:r>
          </a:p>
          <a:p>
            <a:r>
              <a:rPr lang="en-GB" sz="2000" dirty="0"/>
              <a:t>o	Determine vocabulary size.</a:t>
            </a:r>
          </a:p>
          <a:p>
            <a:r>
              <a:rPr lang="en-GB" sz="2000" dirty="0"/>
              <a:t>o	Compute the maximum caption length.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EEA21A-05CE-496C-9E24-D24A765DA50F}"/>
              </a:ext>
            </a:extLst>
          </p:cNvPr>
          <p:cNvSpPr txBox="1"/>
          <p:nvPr/>
        </p:nvSpPr>
        <p:spPr>
          <a:xfrm>
            <a:off x="2366128" y="4469938"/>
            <a:ext cx="85363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6.	Load Extracted Features</a:t>
            </a:r>
          </a:p>
          <a:p>
            <a:r>
              <a:rPr lang="en-GB" sz="2000" dirty="0"/>
              <a:t>o	Open and load the saved features from the pickle file.</a:t>
            </a:r>
          </a:p>
          <a:p>
            <a:r>
              <a:rPr lang="en-GB" sz="2000" dirty="0"/>
              <a:t>o	Store features in </a:t>
            </a:r>
            <a:r>
              <a:rPr lang="en-GB" sz="2000" dirty="0" err="1"/>
              <a:t>features_dict</a:t>
            </a:r>
            <a:r>
              <a:rPr lang="en-GB" sz="2000" dirty="0"/>
              <a:t>.</a:t>
            </a:r>
          </a:p>
          <a:p>
            <a:r>
              <a:rPr lang="en-GB" sz="2000" dirty="0"/>
              <a:t>o	Print available feature keys for debugging</a:t>
            </a:r>
          </a:p>
        </p:txBody>
      </p:sp>
    </p:spTree>
    <p:extLst>
      <p:ext uri="{BB962C8B-B14F-4D97-AF65-F5344CB8AC3E}">
        <p14:creationId xmlns:p14="http://schemas.microsoft.com/office/powerpoint/2010/main" val="369754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14;p52">
            <a:extLst>
              <a:ext uri="{FF2B5EF4-FFF2-40B4-BE49-F238E27FC236}">
                <a16:creationId xmlns:a16="http://schemas.microsoft.com/office/drawing/2014/main" id="{9537B487-4B59-4011-AABA-8AC7AA93B692}"/>
              </a:ext>
            </a:extLst>
          </p:cNvPr>
          <p:cNvSpPr txBox="1">
            <a:spLocks/>
          </p:cNvSpPr>
          <p:nvPr/>
        </p:nvSpPr>
        <p:spPr>
          <a:xfrm rot="-5400000">
            <a:off x="-2309388" y="2309389"/>
            <a:ext cx="6858002" cy="2239223"/>
          </a:xfrm>
          <a:prstGeom prst="rect">
            <a:avLst/>
          </a:prstGeom>
          <a:ln w="22225" cap="flat" cmpd="sng" algn="ctr">
            <a:solidFill>
              <a:schemeClr val="lt1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cap="none" dirty="0"/>
              <a:t>Pseudocode of the developed Image Caption Generator 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CEE4FD83-6EF2-43F2-B987-47584ECEFD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CE1603-E214-4028-9EF0-4740468DAB20}"/>
              </a:ext>
            </a:extLst>
          </p:cNvPr>
          <p:cNvSpPr txBox="1"/>
          <p:nvPr/>
        </p:nvSpPr>
        <p:spPr>
          <a:xfrm>
            <a:off x="2366128" y="-1"/>
            <a:ext cx="853633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7.	Create Training Sequences</a:t>
            </a:r>
          </a:p>
          <a:p>
            <a:r>
              <a:rPr lang="en-GB" sz="2000" dirty="0"/>
              <a:t>o	Initialize empty lists X1, X2, and y.</a:t>
            </a:r>
          </a:p>
          <a:p>
            <a:r>
              <a:rPr lang="en-GB" sz="2000" dirty="0"/>
              <a:t>o	Loop through </a:t>
            </a:r>
            <a:r>
              <a:rPr lang="en-GB" sz="2000" dirty="0" err="1"/>
              <a:t>dataset_captions</a:t>
            </a:r>
            <a:r>
              <a:rPr lang="en-GB" sz="2000" dirty="0"/>
              <a:t>:</a:t>
            </a:r>
          </a:p>
          <a:p>
            <a:r>
              <a:rPr lang="en-GB" sz="2000" dirty="0"/>
              <a:t>	Check if the image feature exists, else skip.</a:t>
            </a:r>
          </a:p>
          <a:p>
            <a:r>
              <a:rPr lang="en-GB" sz="2000" dirty="0"/>
              <a:t>	Retrieve the feature vector for the image.</a:t>
            </a:r>
          </a:p>
          <a:p>
            <a:r>
              <a:rPr lang="en-GB" sz="2000" dirty="0"/>
              <a:t>	Convert each caption to a sequence of numbers.</a:t>
            </a:r>
          </a:p>
          <a:p>
            <a:r>
              <a:rPr lang="en-GB" sz="2000" dirty="0"/>
              <a:t>	Create input-output pairs by splitting the sequence.</a:t>
            </a:r>
          </a:p>
          <a:p>
            <a:r>
              <a:rPr lang="en-GB" sz="2000" dirty="0"/>
              <a:t>	Pad sequences and one-hot encode output words.</a:t>
            </a:r>
          </a:p>
          <a:p>
            <a:r>
              <a:rPr lang="en-GB" sz="2000" dirty="0"/>
              <a:t>	Append features and sequences to X1, X2, and y.</a:t>
            </a:r>
          </a:p>
          <a:p>
            <a:r>
              <a:rPr lang="en-GB" sz="2000" dirty="0"/>
              <a:t>o	Convert lists to NumPy arrays.</a:t>
            </a:r>
          </a:p>
          <a:p>
            <a:r>
              <a:rPr lang="en-GB" sz="2000" dirty="0"/>
              <a:t>o	Return X1, X2, and y.</a:t>
            </a:r>
          </a:p>
          <a:p>
            <a:endParaRPr lang="en-GB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D146B8-7EEF-41FB-8C2D-309BFDDB7A09}"/>
              </a:ext>
            </a:extLst>
          </p:cNvPr>
          <p:cNvSpPr txBox="1"/>
          <p:nvPr/>
        </p:nvSpPr>
        <p:spPr>
          <a:xfrm>
            <a:off x="2366128" y="3617701"/>
            <a:ext cx="86504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8.	Build Captioning Model</a:t>
            </a:r>
          </a:p>
          <a:p>
            <a:r>
              <a:rPr lang="en-GB" sz="2000" dirty="0"/>
              <a:t>o	Define input layers for image features and text sequences.</a:t>
            </a:r>
          </a:p>
          <a:p>
            <a:r>
              <a:rPr lang="en-GB" sz="2000" dirty="0"/>
              <a:t>o	Add a Dense layer for feature transformation.</a:t>
            </a:r>
          </a:p>
          <a:p>
            <a:r>
              <a:rPr lang="en-GB" sz="2000" dirty="0"/>
              <a:t>o	Add an embedding layer for text processing.</a:t>
            </a:r>
          </a:p>
          <a:p>
            <a:r>
              <a:rPr lang="en-GB" sz="2000" dirty="0"/>
              <a:t>o	Use LSTM to process text sequences.</a:t>
            </a:r>
          </a:p>
          <a:p>
            <a:r>
              <a:rPr lang="en-GB" sz="2000" dirty="0"/>
              <a:t>o	Merge image and text features.</a:t>
            </a:r>
          </a:p>
          <a:p>
            <a:r>
              <a:rPr lang="en-GB" sz="2000" dirty="0"/>
              <a:t>o	Add Dense layers and output with </a:t>
            </a:r>
            <a:r>
              <a:rPr lang="en-GB" sz="2000" dirty="0" err="1"/>
              <a:t>softmax</a:t>
            </a:r>
            <a:r>
              <a:rPr lang="en-GB" sz="2000" dirty="0"/>
              <a:t> activation.</a:t>
            </a:r>
          </a:p>
          <a:p>
            <a:r>
              <a:rPr lang="en-GB" sz="2000" dirty="0"/>
              <a:t>o	Compile the model with categorical cross-entropy loss.</a:t>
            </a:r>
          </a:p>
          <a:p>
            <a:r>
              <a:rPr lang="en-GB" sz="2000" dirty="0"/>
              <a:t>o	Return the model.</a:t>
            </a:r>
          </a:p>
        </p:txBody>
      </p:sp>
    </p:spTree>
    <p:extLst>
      <p:ext uri="{BB962C8B-B14F-4D97-AF65-F5344CB8AC3E}">
        <p14:creationId xmlns:p14="http://schemas.microsoft.com/office/powerpoint/2010/main" val="1964431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14;p52">
            <a:extLst>
              <a:ext uri="{FF2B5EF4-FFF2-40B4-BE49-F238E27FC236}">
                <a16:creationId xmlns:a16="http://schemas.microsoft.com/office/drawing/2014/main" id="{9537B487-4B59-4011-AABA-8AC7AA93B692}"/>
              </a:ext>
            </a:extLst>
          </p:cNvPr>
          <p:cNvSpPr txBox="1">
            <a:spLocks/>
          </p:cNvSpPr>
          <p:nvPr/>
        </p:nvSpPr>
        <p:spPr>
          <a:xfrm rot="-5400000">
            <a:off x="-2309388" y="2309389"/>
            <a:ext cx="6858002" cy="2239223"/>
          </a:xfrm>
          <a:prstGeom prst="rect">
            <a:avLst/>
          </a:prstGeom>
          <a:ln w="22225" cap="flat" cmpd="sng" algn="ctr">
            <a:solidFill>
              <a:schemeClr val="lt1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cap="none" dirty="0"/>
              <a:t>Pseudocode of the developed Image Caption Generator 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CEE4FD83-6EF2-43F2-B987-47584ECEFD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CE1603-E214-4028-9EF0-4740468DAB20}"/>
              </a:ext>
            </a:extLst>
          </p:cNvPr>
          <p:cNvSpPr txBox="1"/>
          <p:nvPr/>
        </p:nvSpPr>
        <p:spPr>
          <a:xfrm>
            <a:off x="2366128" y="-1"/>
            <a:ext cx="85363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9.	Train Captioning Model</a:t>
            </a:r>
          </a:p>
          <a:p>
            <a:r>
              <a:rPr lang="en-GB" sz="2000" dirty="0"/>
              <a:t>o	Train the model using the generated training data.</a:t>
            </a:r>
          </a:p>
          <a:p>
            <a:r>
              <a:rPr lang="en-GB" sz="2000" dirty="0"/>
              <a:t>o	Print model summary.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D146B8-7EEF-41FB-8C2D-309BFDDB7A09}"/>
              </a:ext>
            </a:extLst>
          </p:cNvPr>
          <p:cNvSpPr txBox="1"/>
          <p:nvPr/>
        </p:nvSpPr>
        <p:spPr>
          <a:xfrm>
            <a:off x="2366128" y="3530308"/>
            <a:ext cx="86504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11.	Extract Features from a New Image</a:t>
            </a:r>
          </a:p>
          <a:p>
            <a:r>
              <a:rPr lang="en-GB" sz="2000" dirty="0"/>
              <a:t>o	Load and </a:t>
            </a:r>
            <a:r>
              <a:rPr lang="en-GB" sz="2000" dirty="0" err="1"/>
              <a:t>preprocess</a:t>
            </a:r>
            <a:r>
              <a:rPr lang="en-GB" sz="2000" dirty="0"/>
              <a:t> the image.</a:t>
            </a:r>
          </a:p>
          <a:p>
            <a:r>
              <a:rPr lang="en-GB" sz="2000" dirty="0"/>
              <a:t>o	Extract features using the pre-trained model.</a:t>
            </a:r>
          </a:p>
          <a:p>
            <a:r>
              <a:rPr lang="en-GB" sz="2000" dirty="0"/>
              <a:t>o	Return the feature vector.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464B84-994E-46E0-B146-2DF8DE1AD7EF}"/>
              </a:ext>
            </a:extLst>
          </p:cNvPr>
          <p:cNvSpPr txBox="1"/>
          <p:nvPr/>
        </p:nvSpPr>
        <p:spPr>
          <a:xfrm>
            <a:off x="2366128" y="975763"/>
            <a:ext cx="85363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10.	Generate Captions for Images</a:t>
            </a:r>
          </a:p>
          <a:p>
            <a:r>
              <a:rPr lang="en-GB" sz="2000" dirty="0"/>
              <a:t>o	Define a function to remove repeated words from captions.</a:t>
            </a:r>
          </a:p>
          <a:p>
            <a:r>
              <a:rPr lang="en-GB" sz="2000" dirty="0"/>
              <a:t>o	Define </a:t>
            </a:r>
            <a:r>
              <a:rPr lang="en-GB" sz="2000" dirty="0" err="1"/>
              <a:t>generate_caption</a:t>
            </a:r>
            <a:r>
              <a:rPr lang="en-GB" sz="2000" dirty="0"/>
              <a:t> function:</a:t>
            </a:r>
          </a:p>
          <a:p>
            <a:r>
              <a:rPr lang="en-GB" sz="2000" dirty="0"/>
              <a:t>	Start caption with "</a:t>
            </a:r>
            <a:r>
              <a:rPr lang="en-GB" sz="2000" dirty="0" err="1"/>
              <a:t>startseq</a:t>
            </a:r>
            <a:r>
              <a:rPr lang="en-GB" sz="2000" dirty="0"/>
              <a:t>".</a:t>
            </a:r>
          </a:p>
          <a:p>
            <a:r>
              <a:rPr lang="en-GB" sz="2000" dirty="0"/>
              <a:t>	Generate words until </a:t>
            </a:r>
            <a:r>
              <a:rPr lang="en-GB" sz="2000" dirty="0" err="1"/>
              <a:t>max_length</a:t>
            </a:r>
            <a:r>
              <a:rPr lang="en-GB" sz="2000" dirty="0"/>
              <a:t> is reached.</a:t>
            </a:r>
          </a:p>
          <a:p>
            <a:r>
              <a:rPr lang="en-GB" sz="2000" dirty="0"/>
              <a:t>	Convert sequence to text and append predicted words.</a:t>
            </a:r>
          </a:p>
          <a:p>
            <a:r>
              <a:rPr lang="en-GB" sz="2000" dirty="0"/>
              <a:t>	Stop if "</a:t>
            </a:r>
            <a:r>
              <a:rPr lang="en-GB" sz="2000" dirty="0" err="1"/>
              <a:t>endseq</a:t>
            </a:r>
            <a:r>
              <a:rPr lang="en-GB" sz="2000" dirty="0"/>
              <a:t>" is generated.</a:t>
            </a:r>
          </a:p>
          <a:p>
            <a:r>
              <a:rPr lang="en-GB" sz="2000" dirty="0"/>
              <a:t>	Return the cleaned caption.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91A3B-3F38-4BE5-B903-5FBC87B4C924}"/>
              </a:ext>
            </a:extLst>
          </p:cNvPr>
          <p:cNvSpPr txBox="1"/>
          <p:nvPr/>
        </p:nvSpPr>
        <p:spPr>
          <a:xfrm>
            <a:off x="2366128" y="4894184"/>
            <a:ext cx="86504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12.	Test Caption Generator</a:t>
            </a:r>
          </a:p>
          <a:p>
            <a:r>
              <a:rPr lang="en-GB" sz="2000" dirty="0"/>
              <a:t>o	Extract features from a test image.</a:t>
            </a:r>
          </a:p>
          <a:p>
            <a:r>
              <a:rPr lang="en-GB" sz="2000" dirty="0"/>
              <a:t>o	Generate a caption using the trained model.</a:t>
            </a:r>
          </a:p>
          <a:p>
            <a:r>
              <a:rPr lang="en-GB" sz="2000" dirty="0"/>
              <a:t>o	Remove repeated words and unnecessary tokens.</a:t>
            </a:r>
          </a:p>
          <a:p>
            <a:r>
              <a:rPr lang="en-GB" sz="2000" dirty="0"/>
              <a:t>o	Display the image and print the generated caption.</a:t>
            </a:r>
          </a:p>
        </p:txBody>
      </p:sp>
    </p:spTree>
    <p:extLst>
      <p:ext uri="{BB962C8B-B14F-4D97-AF65-F5344CB8AC3E}">
        <p14:creationId xmlns:p14="http://schemas.microsoft.com/office/powerpoint/2010/main" val="108578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12</a:t>
            </a:fld>
            <a:endParaRPr lang="e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4ACECB-EA87-40AB-AA9D-ACEC3E815F2C}"/>
              </a:ext>
            </a:extLst>
          </p:cNvPr>
          <p:cNvSpPr txBox="1"/>
          <p:nvPr/>
        </p:nvSpPr>
        <p:spPr>
          <a:xfrm>
            <a:off x="3044072" y="2454839"/>
            <a:ext cx="61038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cap="none" dirty="0"/>
              <a:t>Code of the developed Image Caption Generator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3F050E-1612-446B-ABF1-948FA5E315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9415"/>
            <a:ext cx="12192000" cy="515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2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14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4F88AC-B49B-4DDD-A7E3-28EDCDE0E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5852"/>
            <a:ext cx="12192000" cy="31141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89EE56-4EE9-4D25-8517-06F0075F88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12192000" cy="310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50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15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D8CAB1-5E84-4CE4-B2A4-2F92C8FC9D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63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FE7FAE-0547-410F-B96D-412CC6E849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88286"/>
            <a:ext cx="12192000" cy="429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16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B0DDD2-E41B-45AB-848A-3A6F4985F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577"/>
            <a:ext cx="12192000" cy="25931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0C120B-DD75-42FA-86A6-F3EBC89DF4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9584"/>
            <a:ext cx="12192000" cy="373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3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17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DE2B44-E3A3-4E64-92AF-D3796DE0E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5329"/>
            <a:ext cx="12192000" cy="520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9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18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702C0-B041-480D-B60B-A107A3740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3480"/>
            <a:ext cx="12192000" cy="528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62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19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04B48A-EC30-4B3D-A2A6-AB43FB453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45060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8D4C33-679F-4F52-96B9-79E1D9AEA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10119"/>
            <a:ext cx="12192000" cy="249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8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20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4A928C-F292-4054-8B37-170E383B9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7601"/>
            <a:ext cx="12192000" cy="43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89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21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575F42-7708-4802-8699-DD2698665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6058"/>
            <a:ext cx="5202368" cy="43495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D2515B-26E3-430B-B959-1F9A09D167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252" y="1292420"/>
            <a:ext cx="5913747" cy="4273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8009FF-A9C9-4071-931D-535A0543AECA}"/>
              </a:ext>
            </a:extLst>
          </p:cNvPr>
          <p:cNvSpPr txBox="1"/>
          <p:nvPr/>
        </p:nvSpPr>
        <p:spPr>
          <a:xfrm>
            <a:off x="2507529" y="302404"/>
            <a:ext cx="78431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Testing with Images from the Flickr8k Dataset:</a:t>
            </a:r>
          </a:p>
        </p:txBody>
      </p:sp>
    </p:spTree>
    <p:extLst>
      <p:ext uri="{BB962C8B-B14F-4D97-AF65-F5344CB8AC3E}">
        <p14:creationId xmlns:p14="http://schemas.microsoft.com/office/powerpoint/2010/main" val="391669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22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74072B-A12F-4A2F-BD52-0D008C4AE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7544"/>
            <a:ext cx="5522289" cy="44765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60C76E-BD3E-4AAA-86AF-8EF0BED114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261" y="1047543"/>
            <a:ext cx="6213739" cy="44765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F6D8D3-D166-445F-9DE8-CE048DBDDEFA}"/>
              </a:ext>
            </a:extLst>
          </p:cNvPr>
          <p:cNvSpPr txBox="1"/>
          <p:nvPr/>
        </p:nvSpPr>
        <p:spPr>
          <a:xfrm>
            <a:off x="2507529" y="302404"/>
            <a:ext cx="78431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Testing with Images from the Flickr8k Dataset:</a:t>
            </a:r>
          </a:p>
        </p:txBody>
      </p:sp>
    </p:spTree>
    <p:extLst>
      <p:ext uri="{BB962C8B-B14F-4D97-AF65-F5344CB8AC3E}">
        <p14:creationId xmlns:p14="http://schemas.microsoft.com/office/powerpoint/2010/main" val="97727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23</a:t>
            </a:fld>
            <a:endParaRPr lang="e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F6D8D3-D166-445F-9DE8-CE048DBDDEFA}"/>
              </a:ext>
            </a:extLst>
          </p:cNvPr>
          <p:cNvSpPr txBox="1"/>
          <p:nvPr/>
        </p:nvSpPr>
        <p:spPr>
          <a:xfrm>
            <a:off x="1693778" y="269186"/>
            <a:ext cx="8568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Testing with Images outside the Flickr8k Dataset (internet):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B87ADC-3316-4B32-92E5-CCE85C91B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09612"/>
            <a:ext cx="5603207" cy="38505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86A0E5-CD13-4EC7-8E5D-AC36E4B848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135" y="1409612"/>
            <a:ext cx="6463865" cy="38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52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24</a:t>
            </a:fld>
            <a:endParaRPr lang="e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F6D8D3-D166-445F-9DE8-CE048DBDDEFA}"/>
              </a:ext>
            </a:extLst>
          </p:cNvPr>
          <p:cNvSpPr txBox="1"/>
          <p:nvPr/>
        </p:nvSpPr>
        <p:spPr>
          <a:xfrm>
            <a:off x="1693778" y="269186"/>
            <a:ext cx="8568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Testing with Images outside the Flickr8k Dataset (internet):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978B1-65B4-47BB-ACAB-91C3D8D03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34250"/>
            <a:ext cx="6387320" cy="4016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CFAE7B-4785-41DE-BBB7-D29EDC181B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554" y="1234250"/>
            <a:ext cx="6709446" cy="40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8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14;p52">
            <a:extLst>
              <a:ext uri="{FF2B5EF4-FFF2-40B4-BE49-F238E27FC236}">
                <a16:creationId xmlns:a16="http://schemas.microsoft.com/office/drawing/2014/main" id="{7D317B7F-4180-45F6-A044-C591BD2DA5F9}"/>
              </a:ext>
            </a:extLst>
          </p:cNvPr>
          <p:cNvSpPr txBox="1">
            <a:spLocks/>
          </p:cNvSpPr>
          <p:nvPr/>
        </p:nvSpPr>
        <p:spPr>
          <a:xfrm rot="-5400000">
            <a:off x="-2613579" y="2613582"/>
            <a:ext cx="6858002" cy="1630838"/>
          </a:xfrm>
          <a:prstGeom prst="rect">
            <a:avLst/>
          </a:prstGeom>
          <a:ln w="22225" cap="flat" cmpd="sng" algn="ctr">
            <a:solidFill>
              <a:schemeClr val="lt1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5400" cap="none" dirty="0" err="1"/>
              <a:t>Streamlit</a:t>
            </a:r>
            <a:r>
              <a:rPr lang="en-GB" sz="5400" cap="none" dirty="0"/>
              <a:t> Application Deployment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25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F8516-8BF6-4E33-ACEB-437B337B6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841" y="509499"/>
            <a:ext cx="10561156" cy="17057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221A3A-0A41-45D9-82A7-B5C1AD497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841" y="2960016"/>
            <a:ext cx="10536104" cy="293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350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92F73F-53FF-4F92-A64E-D4C4A4CAB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3981"/>
            <a:ext cx="12192000" cy="529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61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27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5CBE66-1754-4787-A82A-D23B23020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0682"/>
            <a:ext cx="12192000" cy="601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28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EAD88E-93C9-4A57-83EC-3E9E1C1B6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4144"/>
            <a:ext cx="12192000" cy="426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08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29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4EA5DC-507C-44E5-8725-18792EBF3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87" y="0"/>
            <a:ext cx="11656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61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30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056555-7420-44AC-AAB9-2B7774166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0732"/>
            <a:ext cx="12192000" cy="523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235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3195-F769-4C48-86BF-3A2828728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31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CE06F2-7983-4406-976D-BCF87AF98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3222"/>
            <a:ext cx="12192000" cy="553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73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14;p52">
            <a:extLst>
              <a:ext uri="{FF2B5EF4-FFF2-40B4-BE49-F238E27FC236}">
                <a16:creationId xmlns:a16="http://schemas.microsoft.com/office/drawing/2014/main" id="{7D317B7F-4180-45F6-A044-C591BD2DA5F9}"/>
              </a:ext>
            </a:extLst>
          </p:cNvPr>
          <p:cNvSpPr txBox="1">
            <a:spLocks/>
          </p:cNvSpPr>
          <p:nvPr/>
        </p:nvSpPr>
        <p:spPr>
          <a:xfrm rot="-5400000">
            <a:off x="-2868102" y="2868106"/>
            <a:ext cx="6858002" cy="1121789"/>
          </a:xfrm>
          <a:prstGeom prst="rect">
            <a:avLst/>
          </a:prstGeom>
          <a:ln w="22225" cap="flat" cmpd="sng" algn="ctr">
            <a:solidFill>
              <a:schemeClr val="lt1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8000" cap="none" dirty="0"/>
              <a:t>Final Product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592C8F-EC4A-4D63-BF83-4A39B9D23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32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557D83-7AA0-4737-B958-2EF42EF19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844" y="585058"/>
            <a:ext cx="11045830" cy="563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0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14;p52">
            <a:extLst>
              <a:ext uri="{FF2B5EF4-FFF2-40B4-BE49-F238E27FC236}">
                <a16:creationId xmlns:a16="http://schemas.microsoft.com/office/drawing/2014/main" id="{7D317B7F-4180-45F6-A044-C591BD2DA5F9}"/>
              </a:ext>
            </a:extLst>
          </p:cNvPr>
          <p:cNvSpPr txBox="1">
            <a:spLocks/>
          </p:cNvSpPr>
          <p:nvPr/>
        </p:nvSpPr>
        <p:spPr>
          <a:xfrm rot="-5400000">
            <a:off x="-2868102" y="2868106"/>
            <a:ext cx="6858002" cy="1121789"/>
          </a:xfrm>
          <a:prstGeom prst="rect">
            <a:avLst/>
          </a:prstGeom>
          <a:ln w="22225" cap="flat" cmpd="sng" algn="ctr">
            <a:solidFill>
              <a:schemeClr val="lt1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8000" cap="none" dirty="0"/>
              <a:t>Final Product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592C8F-EC4A-4D63-BF83-4A39B9D23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33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58B9E2-793D-497B-9D24-9F9C99E72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873" y="-1"/>
            <a:ext cx="94924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4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14;p52">
            <a:extLst>
              <a:ext uri="{FF2B5EF4-FFF2-40B4-BE49-F238E27FC236}">
                <a16:creationId xmlns:a16="http://schemas.microsoft.com/office/drawing/2014/main" id="{7D317B7F-4180-45F6-A044-C591BD2DA5F9}"/>
              </a:ext>
            </a:extLst>
          </p:cNvPr>
          <p:cNvSpPr txBox="1">
            <a:spLocks/>
          </p:cNvSpPr>
          <p:nvPr/>
        </p:nvSpPr>
        <p:spPr>
          <a:xfrm rot="-5400000">
            <a:off x="-2868102" y="2868106"/>
            <a:ext cx="6858002" cy="1121789"/>
          </a:xfrm>
          <a:prstGeom prst="rect">
            <a:avLst/>
          </a:prstGeom>
          <a:ln w="22225" cap="flat" cmpd="sng" algn="ctr">
            <a:solidFill>
              <a:schemeClr val="lt1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8000" cap="none" dirty="0"/>
              <a:t>Final Product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592C8F-EC4A-4D63-BF83-4A39B9D23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34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C8F576-13C8-40EC-8508-F9048C8C2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101" y="115577"/>
            <a:ext cx="10793110" cy="615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71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14;p52">
            <a:extLst>
              <a:ext uri="{FF2B5EF4-FFF2-40B4-BE49-F238E27FC236}">
                <a16:creationId xmlns:a16="http://schemas.microsoft.com/office/drawing/2014/main" id="{7D317B7F-4180-45F6-A044-C591BD2DA5F9}"/>
              </a:ext>
            </a:extLst>
          </p:cNvPr>
          <p:cNvSpPr txBox="1">
            <a:spLocks/>
          </p:cNvSpPr>
          <p:nvPr/>
        </p:nvSpPr>
        <p:spPr>
          <a:xfrm rot="-5400000">
            <a:off x="-2764407" y="2764412"/>
            <a:ext cx="6858002" cy="1329177"/>
          </a:xfrm>
          <a:prstGeom prst="rect">
            <a:avLst/>
          </a:prstGeom>
          <a:ln w="22225" cap="flat" cmpd="sng" algn="ctr">
            <a:solidFill>
              <a:schemeClr val="lt1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8000" cap="none" dirty="0"/>
              <a:t>Conclusion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592C8F-EC4A-4D63-BF83-4A39B9D23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35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2CB255-0B2E-4939-A1CC-0C3835794EF6}"/>
              </a:ext>
            </a:extLst>
          </p:cNvPr>
          <p:cNvSpPr txBox="1"/>
          <p:nvPr/>
        </p:nvSpPr>
        <p:spPr>
          <a:xfrm>
            <a:off x="2344213" y="1659285"/>
            <a:ext cx="772997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The model accuracy isn’t the best accuracy but </a:t>
            </a:r>
            <a:r>
              <a:rPr lang="en-GB" sz="3200" dirty="0" err="1"/>
              <a:t>i</a:t>
            </a:r>
            <a:r>
              <a:rPr lang="en-GB" sz="3200" dirty="0"/>
              <a:t> was restricted by the runtime and ram consumption on my personal pc (that’s why I was training the model with only 2 epochs). Moreover, the code doesn’t end execution on </a:t>
            </a:r>
            <a:r>
              <a:rPr lang="en-GB" sz="3200" dirty="0" err="1"/>
              <a:t>colab</a:t>
            </a:r>
            <a:r>
              <a:rPr lang="en-GB" sz="3200" dirty="0"/>
              <a:t> before the daily quota have been reached.</a:t>
            </a:r>
          </a:p>
        </p:txBody>
      </p:sp>
    </p:spTree>
    <p:extLst>
      <p:ext uri="{BB962C8B-B14F-4D97-AF65-F5344CB8AC3E}">
        <p14:creationId xmlns:p14="http://schemas.microsoft.com/office/powerpoint/2010/main" val="198582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08;p51">
            <a:extLst>
              <a:ext uri="{FF2B5EF4-FFF2-40B4-BE49-F238E27FC236}">
                <a16:creationId xmlns:a16="http://schemas.microsoft.com/office/drawing/2014/main" id="{8B6BD2A1-C224-457B-AF96-9DF5253D172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077958" y="2662382"/>
            <a:ext cx="4036084" cy="153323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sz="6600" cap="none" dirty="0">
                <a:solidFill>
                  <a:srgbClr val="FFC000"/>
                </a:solidFill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F2BB3-7892-4AC9-8DE1-C86582FC8B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049264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670</TotalTime>
  <Words>1010</Words>
  <Application>Microsoft Office PowerPoint</Application>
  <PresentationFormat>Widescreen</PresentationFormat>
  <Paragraphs>149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Hanken Grotesk</vt:lpstr>
      <vt:lpstr>Tw Cen MT</vt:lpstr>
      <vt:lpstr>Circuit</vt:lpstr>
      <vt:lpstr>Image Caption Generator</vt:lpstr>
      <vt:lpstr>Contents:</vt:lpstr>
      <vt:lpstr>Introduction</vt:lpstr>
      <vt:lpstr>Applications for Image Processing, NLP</vt:lpstr>
      <vt:lpstr>Applications for Image Processing, NLP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yosri</dc:creator>
  <cp:lastModifiedBy>mohamed yosri</cp:lastModifiedBy>
  <cp:revision>76</cp:revision>
  <dcterms:created xsi:type="dcterms:W3CDTF">2024-10-21T14:55:39Z</dcterms:created>
  <dcterms:modified xsi:type="dcterms:W3CDTF">2025-02-11T18:09:35Z</dcterms:modified>
</cp:coreProperties>
</file>